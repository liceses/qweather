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508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1">
                <a:solidFill>
                  <a:srgbClr val="FFFFFF"/>
                </a:solidFill>
                <a:latin typeface="Microsoft YaHei"/>
              </a:defRPr>
            </a:pPr>
            <a:r>
              <a:t>QWeather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CCDDEE"/>
                </a:solidFill>
                <a:latin typeface="Microsoft YaHei"/>
              </a:defRPr>
            </a:pPr>
            <a:r>
              <a:t>基于 Qt 6.11 + QML 的桌面天气预报应用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899AA"/>
                </a:solidFill>
                <a:latin typeface="Microsoft YaHei"/>
              </a:defRPr>
            </a:pPr>
            <a:r>
              <a:t>项目演示 · 架构概述 · 功能模块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CDDEE"/>
                </a:solidFill>
                <a:latin typeface="Microsoft YaHei"/>
              </a:defRPr>
            </a:pPr>
            <a:r>
              <a:t>▸  ✅  24 个和风天气 API 统一引擎</a:t>
            </a:r>
          </a:p>
          <a:p>
            <a:pPr>
              <a:spcAft>
                <a:spcPts val="600"/>
              </a:spcAft>
              <a:defRPr sz="1600">
                <a:solidFill>
                  <a:srgbClr val="CCDDEE"/>
                </a:solidFill>
                <a:latin typeface="Microsoft YaHei"/>
              </a:defRPr>
            </a:pPr>
            <a:r>
              <a:t>▸  ✅  C++ Store + QML 纯渲染架构</a:t>
            </a:r>
          </a:p>
          <a:p>
            <a:pPr>
              <a:spcAft>
                <a:spcPts val="600"/>
              </a:spcAft>
              <a:defRPr sz="1600">
                <a:solidFill>
                  <a:srgbClr val="CCDDEE"/>
                </a:solidFill>
                <a:latin typeface="Microsoft YaHei"/>
              </a:defRPr>
            </a:pPr>
            <a:r>
              <a:t>▸  ✅  V3 动态天气背景系统 (GPU ShaderEffect)</a:t>
            </a:r>
          </a:p>
          <a:p>
            <a:pPr>
              <a:spcAft>
                <a:spcPts val="600"/>
              </a:spcAft>
              <a:defRPr sz="1600">
                <a:solidFill>
                  <a:srgbClr val="CCDDEE"/>
                </a:solidFill>
                <a:latin typeface="Microsoft YaHei"/>
              </a:defRPr>
            </a:pPr>
            <a:r>
              <a:t>▸  ✅  7 页面路由 · 10 功能模块</a:t>
            </a:r>
          </a:p>
          <a:p>
            <a:pPr>
              <a:spcAft>
                <a:spcPts val="600"/>
              </a:spcAft>
              <a:defRPr sz="1600">
                <a:solidFill>
                  <a:srgbClr val="CCDDEE"/>
                </a:solidFill>
                <a:latin typeface="Microsoft YaHei"/>
              </a:defRPr>
            </a:pPr>
            <a:r>
              <a:t>▸  ✅  SQLite 缓存 · QtCharts 图表 · 天文天空模拟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4008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99AA"/>
                </a:solidFill>
                <a:latin typeface="Microsoft YaHei"/>
              </a:defRPr>
            </a:pPr>
            <a:r>
              <a:t>2026-07-16  ·  Version 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99AA"/>
                </a:solidFill>
                <a:latin typeface="Microsoft YaHei"/>
              </a:defRPr>
            </a:pPr>
            <a: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目录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CCDDEE"/>
                </a:solidFill>
                <a:latin typeface="Microsoft YaHei"/>
              </a:defRPr>
            </a:pPr>
            <a:r>
              <a:t>▸  项目概述与核心能力</a:t>
            </a:r>
          </a:p>
          <a:p>
            <a:pPr>
              <a:spcAft>
                <a:spcPts val="1000"/>
              </a:spcAft>
              <a:defRPr sz="2000">
                <a:solidFill>
                  <a:srgbClr val="CCDDEE"/>
                </a:solidFill>
                <a:latin typeface="Microsoft YaHei"/>
              </a:defRPr>
            </a:pPr>
            <a:r>
              <a:t>▸  技术架构 (C++ / QML 边界)</a:t>
            </a:r>
          </a:p>
          <a:p>
            <a:pPr>
              <a:spcAft>
                <a:spcPts val="1000"/>
              </a:spcAft>
              <a:defRPr sz="2000">
                <a:solidFill>
                  <a:srgbClr val="CCDDEE"/>
                </a:solidFill>
                <a:latin typeface="Microsoft YaHei"/>
              </a:defRPr>
            </a:pPr>
            <a:r>
              <a:t>▸  数据流模式 (C++ Store → QML 绑定)</a:t>
            </a:r>
          </a:p>
          <a:p>
            <a:pPr>
              <a:spcAft>
                <a:spcPts val="1000"/>
              </a:spcAft>
              <a:defRPr sz="2000">
                <a:solidFill>
                  <a:srgbClr val="CCDDEE"/>
                </a:solidFill>
                <a:latin typeface="Microsoft YaHei"/>
              </a:defRPr>
            </a:pPr>
            <a:r>
              <a:t>▸  功能模块一览 (10 大模块)</a:t>
            </a:r>
          </a:p>
          <a:p>
            <a:pPr>
              <a:spcAft>
                <a:spcPts val="1000"/>
              </a:spcAft>
              <a:defRPr sz="2000">
                <a:solidFill>
                  <a:srgbClr val="CCDDEE"/>
                </a:solidFill>
                <a:latin typeface="Microsoft YaHei"/>
              </a:defRPr>
            </a:pPr>
            <a:r>
              <a:t>▸  动态天气背景系统 (V3 天空模拟)</a:t>
            </a:r>
          </a:p>
          <a:p>
            <a:pPr>
              <a:spcAft>
                <a:spcPts val="1000"/>
              </a:spcAft>
              <a:defRPr sz="2000">
                <a:solidFill>
                  <a:srgbClr val="CCDDEE"/>
                </a:solidFill>
                <a:latin typeface="Microsoft YaHei"/>
              </a:defRPr>
            </a:pPr>
            <a:r>
              <a:t>▸  关键设计决策与踩坑教训</a:t>
            </a:r>
          </a:p>
          <a:p>
            <a:pPr>
              <a:spcAft>
                <a:spcPts val="1000"/>
              </a:spcAft>
              <a:defRPr sz="2000">
                <a:solidFill>
                  <a:srgbClr val="CCDDEE"/>
                </a:solidFill>
                <a:latin typeface="Microsoft YaHei"/>
              </a:defRPr>
            </a:pPr>
            <a:r>
              <a:t>▸  项目里程碑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99AA"/>
                </a:solidFill>
                <a:latin typeface="Microsoft YaHei"/>
              </a:defRPr>
            </a:pPr>
            <a: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项目概述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9AA"/>
                </a:solidFill>
                <a:latin typeface="Microsoft YaHei"/>
              </a:defRPr>
            </a:pPr>
            <a:r>
              <a:t>QWeather — 桌面天气预报应用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029200" cy="475488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CCDDEE"/>
                </a:solidFill>
                <a:latin typeface="Microsoft YaHei"/>
              </a:defRPr>
            </a:pPr>
            <a:r>
              <a:t>▸  基于 Qt 6.11 + QML 的混合架构桌面应用</a:t>
            </a:r>
          </a:p>
          <a:p>
            <a:pPr>
              <a:spcAft>
                <a:spcPts val="800"/>
              </a:spcAft>
              <a:defRPr sz="1500">
                <a:solidFill>
                  <a:srgbClr val="CCDDEE"/>
                </a:solidFill>
                <a:latin typeface="Microsoft YaHei"/>
              </a:defRPr>
            </a:pPr>
            <a:r>
              <a:t>▸  调用和风天气 (QWeather) 公开 API</a:t>
            </a:r>
          </a:p>
          <a:p>
            <a:pPr>
              <a:spcAft>
                <a:spcPts val="800"/>
              </a:spcAft>
              <a:defRPr sz="1500">
                <a:solidFill>
                  <a:srgbClr val="CCDDEE"/>
                </a:solidFill>
                <a:latin typeface="Microsoft YaHei"/>
              </a:defRPr>
            </a:pPr>
            <a:r>
              <a:t>▸  支持多城市天气查询与可视化展示</a:t>
            </a:r>
          </a:p>
          <a:p>
            <a:pPr>
              <a:spcAft>
                <a:spcPts val="800"/>
              </a:spcAft>
              <a:defRPr sz="1500">
                <a:solidFill>
                  <a:srgbClr val="CCDDEE"/>
                </a:solidFill>
                <a:latin typeface="Microsoft YaHei"/>
              </a:defRPr>
            </a:pPr>
            <a:r>
              <a:t>▸  GPU ShaderEffect 实时动态天气背景</a:t>
            </a:r>
          </a:p>
          <a:p>
            <a:pPr>
              <a:spcAft>
                <a:spcPts val="800"/>
              </a:spcAft>
              <a:defRPr sz="1500">
                <a:solidFill>
                  <a:srgbClr val="CCDDEE"/>
                </a:solidFill>
                <a:latin typeface="Microsoft YaHei"/>
              </a:defRPr>
            </a:pPr>
            <a:r>
              <a:t>▸  SQLite 缓存减少重复网络请求</a:t>
            </a:r>
          </a:p>
          <a:p>
            <a:pPr>
              <a:spcAft>
                <a:spcPts val="800"/>
              </a:spcAft>
              <a:defRPr sz="1500">
                <a:solidFill>
                  <a:srgbClr val="CCDDEE"/>
                </a:solidFill>
                <a:latin typeface="Microsoft YaHei"/>
              </a:defRPr>
            </a:pPr>
            <a:r>
              <a:t>▸  QtCharts 温度趋势折线图</a:t>
            </a:r>
          </a:p>
          <a:p>
            <a:pPr>
              <a:spcAft>
                <a:spcPts val="800"/>
              </a:spcAft>
              <a:defRPr sz="1500">
                <a:solidFill>
                  <a:srgbClr val="CCDDEE"/>
                </a:solidFill>
                <a:latin typeface="Microsoft YaHei"/>
              </a:defRPr>
            </a:pPr>
            <a:r>
              <a:t>▸  C++ 后端预处理，QML 纯绑定渲染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CDDEE"/>
                </a:solidFill>
                <a:latin typeface="Microsoft YaHei"/>
              </a:defRPr>
            </a:pPr>
            <a:r>
              <a:t>▸  🔍  城市搜索 (联想补全 + GeoAPI)</a:t>
            </a:r>
          </a:p>
          <a:p>
            <a:pPr>
              <a:spcAft>
                <a:spcPts val="600"/>
              </a:spcAft>
              <a:defRPr sz="1400">
                <a:solidFill>
                  <a:srgbClr val="CCDDEE"/>
                </a:solidFill>
                <a:latin typeface="Microsoft YaHei"/>
              </a:defRPr>
            </a:pPr>
            <a:r>
              <a:t>▸  🌡  实时天气 + 体感/湿度/风力</a:t>
            </a:r>
          </a:p>
          <a:p>
            <a:pPr>
              <a:spcAft>
                <a:spcPts val="600"/>
              </a:spcAft>
              <a:defRPr sz="1400">
                <a:solidFill>
                  <a:srgbClr val="CCDDEE"/>
                </a:solidFill>
                <a:latin typeface="Microsoft YaHei"/>
              </a:defRPr>
            </a:pPr>
            <a:r>
              <a:t>▸  📅  逐小时/逐日预报 (24h~30d)</a:t>
            </a:r>
          </a:p>
          <a:p>
            <a:pPr>
              <a:spcAft>
                <a:spcPts val="600"/>
              </a:spcAft>
              <a:defRPr sz="1400">
                <a:solidFill>
                  <a:srgbClr val="CCDDEE"/>
                </a:solidFill>
                <a:latin typeface="Microsoft YaHei"/>
              </a:defRPr>
            </a:pPr>
            <a:r>
              <a:t>▸  🌬  空气质量指数 (AQI + 污染物)</a:t>
            </a:r>
          </a:p>
          <a:p>
            <a:pPr>
              <a:spcAft>
                <a:spcPts val="600"/>
              </a:spcAft>
              <a:defRPr sz="1400">
                <a:solidFill>
                  <a:srgbClr val="CCDDEE"/>
                </a:solidFill>
                <a:latin typeface="Microsoft YaHei"/>
              </a:defRPr>
            </a:pPr>
            <a:r>
              <a:t>▸  ☀️  太阳辐射 + 天文 (日出/月相)</a:t>
            </a:r>
          </a:p>
          <a:p>
            <a:pPr>
              <a:spcAft>
                <a:spcPts val="600"/>
              </a:spcAft>
              <a:defRPr sz="1400">
                <a:solidFill>
                  <a:srgbClr val="CCDDEE"/>
                </a:solidFill>
                <a:latin typeface="Microsoft YaHei"/>
              </a:defRPr>
            </a:pPr>
            <a:r>
              <a:t>▸  🏙  城市详情 9 卡聚合页</a:t>
            </a:r>
          </a:p>
          <a:p>
            <a:pPr>
              <a:spcAft>
                <a:spcPts val="600"/>
              </a:spcAft>
              <a:defRPr sz="1400">
                <a:solidFill>
                  <a:srgbClr val="CCDDEE"/>
                </a:solidFill>
                <a:latin typeface="Microsoft YaHei"/>
              </a:defRPr>
            </a:pPr>
            <a:r>
              <a:t>▸  ⚡  动态背景 (晴/阴/雨/雪/雾/夜)</a:t>
            </a:r>
          </a:p>
          <a:p>
            <a:pPr>
              <a:spcAft>
                <a:spcPts val="600"/>
              </a:spcAft>
              <a:defRPr sz="1400">
                <a:solidFill>
                  <a:srgbClr val="CCDDEE"/>
                </a:solidFill>
                <a:latin typeface="Microsoft YaHei"/>
              </a:defRPr>
            </a:pPr>
            <a:r>
              <a:t>▸  ⭐  收藏 / 固定 / 历史记录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99AA"/>
                </a:solidFill>
                <a:latin typeface="Microsoft YaHei"/>
              </a:defRPr>
            </a:pPr>
            <a: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技术栈 Technology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50292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224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  <a:latin typeface="Microsoft YaHei"/>
              </a:defRPr>
            </a:pPr>
            <a:r>
              <a:t>开发框架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42240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Microsoft YaHei"/>
              </a:defRPr>
            </a:pPr>
            <a:r>
              <a:t>Qt 6.11+ · CMake 3.16+ · MinGW 64-bit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38528"/>
            <a:ext cx="10698480" cy="50292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8932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  <a:latin typeface="Microsoft YaHei"/>
              </a:defRPr>
            </a:pPr>
            <a:r>
              <a:t>编程语言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989328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Microsoft YaHei"/>
              </a:defRPr>
            </a:pPr>
            <a:r>
              <a:t>C++17 (后端) · QML / JavaScript (前端) · GLSL (着色器)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05456"/>
            <a:ext cx="10698480" cy="50292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56256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  <a:latin typeface="Microsoft YaHei"/>
              </a:defRPr>
            </a:pPr>
            <a:r>
              <a:t>图形引擎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556256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Microsoft YaHei"/>
              </a:defRPr>
            </a:pPr>
            <a:r>
              <a:t>Qt RHI (Direct3D 11 / OpenGL 3.3+ / Vulkan 1.1+)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72384"/>
            <a:ext cx="10698480" cy="50292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123184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  <a:latin typeface="Microsoft YaHei"/>
              </a:defRPr>
            </a:pPr>
            <a:r>
              <a:t>网络通信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123184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Microsoft YaHei"/>
              </a:defRPr>
            </a:pPr>
            <a:r>
              <a:t>Qt Network Access Manager · HTTPS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639312"/>
            <a:ext cx="10698480" cy="50292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6901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  <a:latin typeface="Microsoft YaHei"/>
              </a:defRPr>
            </a:pPr>
            <a:r>
              <a:t>数据库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690112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Microsoft YaHei"/>
              </a:defRPr>
            </a:pPr>
            <a:r>
              <a:t>SQLite 3 (通过 Qt SQL 模块)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206240"/>
            <a:ext cx="10698480" cy="50292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570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  <a:latin typeface="Microsoft YaHei"/>
              </a:defRPr>
            </a:pPr>
            <a:r>
              <a:t>图表引擎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25704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Microsoft YaHei"/>
              </a:defRPr>
            </a:pPr>
            <a:r>
              <a:t>Qt 6 Charts (依赖 QApplication)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773168"/>
            <a:ext cx="10698480" cy="50292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2396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  <a:latin typeface="Microsoft YaHei"/>
              </a:defRPr>
            </a:pPr>
            <a:r>
              <a:t>外部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823968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Microsoft YaHei"/>
              </a:defRPr>
            </a:pPr>
            <a:r>
              <a:t>和风天气 (devapi.qweather.com) · API Key 认证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340096"/>
            <a:ext cx="10698480" cy="50292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90896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  <a:latin typeface="Microsoft YaHei"/>
              </a:defRPr>
            </a:pPr>
            <a:r>
              <a:t>构建工具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5390896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Microsoft YaHei"/>
              </a:defRPr>
            </a:pPr>
            <a:r>
              <a:t>CMake · Ninja / MinGW Make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907024"/>
            <a:ext cx="10698480" cy="50292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957824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  <a:latin typeface="Microsoft YaHei"/>
              </a:defRPr>
            </a:pPr>
            <a:r>
              <a:t>版本控制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5957824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Microsoft YaHei"/>
              </a:defRPr>
            </a:pPr>
            <a:r>
              <a:t>Git · 华为 CodeArts 远程仓库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99AA"/>
                </a:solidFill>
                <a:latin typeface="Microsoft YaHei"/>
              </a:defRPr>
            </a:pPr>
            <a: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系统架构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9AA"/>
                </a:solidFill>
                <a:latin typeface="Microsoft YaHei"/>
              </a:defRPr>
            </a:pPr>
            <a:r>
              <a:t>C++ 后端 + QML 前端 · 单向数据流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303520" cy="2011680"/>
          </a:xfrm>
          <a:prstGeom prst="round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C++  后端层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▸  WeatherAPI — 24 API 统一路由 + 缓存拦截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▸  4 × Store (Forecast / AirQuality / SolarAstronomy / CityDetail)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▸  AppSettings · GlobalClock · BackgroundManager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▸  WeatherProfile · AstronomyModel · TransitionController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Microsoft YaHei"/>
              </a:defRPr>
            </a:pPr>
            <a:r>
              <a:t>▸  WeatherCache (SQLite) · SkyState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34747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CAF50"/>
                </a:solidFill>
                <a:latin typeface="Microsoft YaHei"/>
              </a:defRPr>
            </a:pPr>
            <a:r>
              <a:t>▼ contextProperty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931920"/>
            <a:ext cx="5303520" cy="2377440"/>
          </a:xfrm>
          <a:prstGeom prst="roundRect">
            <a:avLst/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77639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1B2A"/>
                </a:solidFill>
                <a:latin typeface="Microsoft YaHei"/>
              </a:defRPr>
            </a:pPr>
            <a:r>
              <a:t>QML  前端层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8912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0D1B2A"/>
                </a:solidFill>
                <a:latin typeface="Microsoft YaHei"/>
              </a:defRPr>
            </a:pPr>
            <a:r>
              <a:t>▸  Main.qml — 7 页面路由 + 焦点城市 / 全局状态</a:t>
            </a:r>
          </a:p>
          <a:p>
            <a:pPr>
              <a:spcAft>
                <a:spcPts val="300"/>
              </a:spcAft>
              <a:defRPr sz="1200">
                <a:solidFill>
                  <a:srgbClr val="0D1B2A"/>
                </a:solidFill>
                <a:latin typeface="Microsoft YaHei"/>
              </a:defRPr>
            </a:pPr>
            <a:r>
              <a:t>▸  仪表盘 / 预报 / 空气质量 / 阳光天文 / 详情 / 收藏 / 设置</a:t>
            </a:r>
          </a:p>
          <a:p>
            <a:pPr>
              <a:spcAft>
                <a:spcPts val="300"/>
              </a:spcAft>
              <a:defRPr sz="1200">
                <a:solidFill>
                  <a:srgbClr val="0D1B2A"/>
                </a:solidFill>
                <a:latin typeface="Microsoft YaHei"/>
              </a:defRPr>
            </a:pPr>
            <a:r>
              <a:t>▸  SearchBar · CityCard · NavButton · InfoChip · WeatherIcon</a:t>
            </a:r>
          </a:p>
          <a:p>
            <a:pPr>
              <a:spcAft>
                <a:spcPts val="300"/>
              </a:spcAft>
              <a:defRPr sz="1200">
                <a:solidFill>
                  <a:srgbClr val="0D1B2A"/>
                </a:solidFill>
                <a:latin typeface="Microsoft YaHei"/>
              </a:defRPr>
            </a:pPr>
            <a:r>
              <a:t>▸  V3 动态背景栈: SkyLayer · CloudLayer · RainLayer ...</a:t>
            </a:r>
          </a:p>
          <a:p>
            <a:pPr>
              <a:spcAft>
                <a:spcPts val="300"/>
              </a:spcAft>
              <a:defRPr sz="1200">
                <a:solidFill>
                  <a:srgbClr val="0D1B2A"/>
                </a:solidFill>
                <a:latin typeface="Microsoft YaHei"/>
              </a:defRPr>
            </a:pPr>
            <a:r>
              <a:t>▸  WeatherBackgroundDebugPanel (Ctrl+Shift+B)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212080" cy="457200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63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CAF50"/>
                </a:solidFill>
                <a:latin typeface="Microsoft YaHei"/>
              </a:defRPr>
            </a:pPr>
            <a:r>
              <a:t>数据流模式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92024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1. Main.qml cityList / focusId 变更</a:t>
            </a:r>
          </a:p>
          <a:p>
            <a:pPr>
              <a:spcAft>
                <a:spcPts val="4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2. → Store::setCities() → refreshAll()</a:t>
            </a:r>
          </a:p>
          <a:p>
            <a:pPr>
              <a:spcAft>
                <a:spcPts val="4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3. → 逐城调用 weatherApi.xxx()</a:t>
            </a:r>
          </a:p>
          <a:p>
            <a:pPr>
              <a:spcAft>
                <a:spcPts val="4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4. → 缓存拦截 (WeatherCache TTL 检查)</a:t>
            </a:r>
          </a:p>
          <a:p>
            <a:pPr>
              <a:spcAft>
                <a:spcPts val="4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5. → API 请求 / 缓存返回</a:t>
            </a:r>
          </a:p>
          <a:p>
            <a:pPr>
              <a:spcAft>
                <a:spcPts val="4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6. → Handler 解析 JSON → QVariantMap</a:t>
            </a:r>
          </a:p>
          <a:p>
            <a:pPr>
              <a:spcAft>
                <a:spcPts val="4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7. → emit dataChanged() → QML 绑定刷新</a:t>
            </a:r>
          </a:p>
          <a:p>
            <a:pPr>
              <a:spcAft>
                <a:spcPts val="4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</a:t>
            </a:r>
          </a:p>
          <a:p>
            <a:pPr>
              <a:spcAft>
                <a:spcPts val="4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关键原则:</a:t>
            </a:r>
          </a:p>
          <a:p>
            <a:pPr>
              <a:spcAft>
                <a:spcPts val="4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▸ C++ 是唯一数据源</a:t>
            </a:r>
          </a:p>
          <a:p>
            <a:pPr>
              <a:spcAft>
                <a:spcPts val="4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▸ QML 端不解析 JSON，纯绑定渲染</a:t>
            </a:r>
          </a:p>
          <a:p>
            <a:pPr>
              <a:spcAft>
                <a:spcPts val="4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▸ 每次创建新 QVariantMap 触发 Changed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99AA"/>
                </a:solidFill>
                <a:latin typeface="Microsoft YaHei"/>
              </a:defRPr>
            </a:pPr>
            <a: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功能模块总览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9AA"/>
                </a:solidFill>
                <a:latin typeface="Microsoft YaHei"/>
              </a:defRPr>
            </a:pPr>
            <a:r>
              <a:t>10 大模块 · 全部已实现 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47120" cy="45720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097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Microsoft YaHei"/>
              </a:defRPr>
            </a:pPr>
            <a:r>
              <a:t>F1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4097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城市天气查询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4097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Microsoft YaHei"/>
              </a:defRPr>
            </a:pPr>
            <a:r>
              <a:t>SearchBar 联想 + 实时天气 + GeoAPI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74520"/>
            <a:ext cx="11247120" cy="45720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126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Microsoft YaHei"/>
              </a:defRPr>
            </a:pPr>
            <a:r>
              <a:t>F2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9126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七天天气预报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191262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Microsoft YaHei"/>
              </a:defRPr>
            </a:pPr>
            <a:r>
              <a:t>24h~30d 预报 + ChartView 折线图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377440"/>
            <a:ext cx="11247120" cy="45720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4155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Microsoft YaHei"/>
              </a:defRPr>
            </a:pPr>
            <a:r>
              <a:t>F3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4155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空气质量指数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41554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Microsoft YaHei"/>
              </a:defRPr>
            </a:pPr>
            <a:r>
              <a:t>AQI + PM2.5/PM10/NO₂/O₃/CO 网格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880360"/>
            <a:ext cx="11247120" cy="45720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9184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Microsoft YaHei"/>
              </a:defRPr>
            </a:pPr>
            <a:r>
              <a:t>F4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9184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阳光天文信息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91846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Microsoft YaHei"/>
              </a:defRPr>
            </a:pPr>
            <a:r>
              <a:t>GHI/DNI/DHI + 日出日落 + 月相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383280"/>
            <a:ext cx="11247120" cy="45720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4213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Microsoft YaHei"/>
              </a:defRPr>
            </a:pPr>
            <a:r>
              <a:t>F5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213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城市详情聚合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34213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Microsoft YaHei"/>
              </a:defRPr>
            </a:pPr>
            <a:r>
              <a:t>10 路 API 汇聚 · 9 卡片滚动页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886200"/>
            <a:ext cx="11247120" cy="45720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9243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Microsoft YaHei"/>
              </a:defRPr>
            </a:pPr>
            <a:r>
              <a:t>F6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39243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动态天气背景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39243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Microsoft YaHei"/>
              </a:defRPr>
            </a:pPr>
            <a:r>
              <a:t>V3 天空模拟 · 6 Layer 栈 · GPU ShaderEffect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389120"/>
            <a:ext cx="11247120" cy="45720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4272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Microsoft YaHei"/>
              </a:defRPr>
            </a:pPr>
            <a:r>
              <a:t>F7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44272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收藏与管理系统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0" y="442722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Microsoft YaHei"/>
              </a:defRPr>
            </a:pPr>
            <a:r>
              <a:t>收藏 / 固定 / 历史 · SQLite 持久化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892040"/>
            <a:ext cx="11247120" cy="45720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301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Microsoft YaHei"/>
              </a:defRPr>
            </a:pPr>
            <a:r>
              <a:t>F8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63040" y="49301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缓存管理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493014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Microsoft YaHei"/>
              </a:defRPr>
            </a:pPr>
            <a:r>
              <a:t>SQLite 键值存储 · TTL 过期策略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394960"/>
            <a:ext cx="11247120" cy="45720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4330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Microsoft YaHei"/>
              </a:defRPr>
            </a:pPr>
            <a:r>
              <a:t>F9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63040" y="54330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应用设置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74720" y="543306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Microsoft YaHei"/>
              </a:defRPr>
            </a:pPr>
            <a:r>
              <a:t>太阳辐射开关 · 缓存清除 · 版本信息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897880"/>
            <a:ext cx="11247120" cy="45720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59359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Microsoft YaHei"/>
              </a:defRPr>
            </a:pPr>
            <a:r>
              <a:t>F10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63040" y="59359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图表可视化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74720" y="59359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Microsoft YaHei"/>
              </a:defRPr>
            </a:pPr>
            <a:r>
              <a:t>QtCharts 温度曲线 · Axis 自适应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99AA"/>
                </a:solidFill>
                <a:latin typeface="Microsoft YaHei"/>
              </a:defRPr>
            </a:pPr>
            <a: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数据流详解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9AA"/>
                </a:solidFill>
                <a:latin typeface="Microsoft YaHei"/>
              </a:defRPr>
            </a:pPr>
            <a:r>
              <a:t>C++ Store 统一范式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47120" cy="109728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47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CAF50"/>
                </a:solidFill>
                <a:latin typeface="Microsoft YaHei"/>
              </a:defRPr>
            </a:pPr>
            <a:r>
              <a:t>ForecastStore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447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天气预报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Microsoft YaHei"/>
              </a:defRPr>
            </a:pPr>
            <a:r>
              <a:t>weatherDaily/weatherHourly → 坐标数组 [{x: idx, y: temp}]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06040"/>
            <a:ext cx="11247120" cy="109728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682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CAF50"/>
                </a:solidFill>
                <a:latin typeface="Microsoft YaHei"/>
              </a:defRPr>
            </a:pPr>
            <a:r>
              <a:t>AirQualityStore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682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空气质量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632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Microsoft YaHei"/>
              </a:defRPr>
            </a:pPr>
            <a:r>
              <a:t>airCurrent → indexes[].aqi + pollutants[].concentration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47120" cy="109728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916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CAF50"/>
                </a:solidFill>
                <a:latin typeface="Microsoft YaHei"/>
              </a:defRPr>
            </a:pPr>
            <a:r>
              <a:t>SolarAstronomyStore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9166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阳光天文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976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Microsoft YaHei"/>
              </a:defRPr>
            </a:pPr>
            <a:r>
              <a:t>3 路异步合并: solarRadiation + astronomySun + astronomyMoon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074920"/>
            <a:ext cx="11247120" cy="109728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151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CAF50"/>
                </a:solidFill>
                <a:latin typeface="Microsoft YaHei"/>
              </a:defRPr>
            </a:pPr>
            <a:r>
              <a:t>CityDetailStore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5151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城市详情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321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DDEE"/>
                </a:solidFill>
                <a:latin typeface="Microsoft YaHei"/>
              </a:defRPr>
            </a:pPr>
            <a:r>
              <a:t>10 路 API 汇聚为单 QVariantMap，预初始化防 TypeError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6309360"/>
            <a:ext cx="11247120" cy="822960"/>
          </a:xfrm>
          <a:prstGeom prst="roundRect">
            <a:avLst/>
          </a:prstGeom>
          <a:solidFill>
            <a:srgbClr val="1A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10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1C784"/>
                </a:solidFill>
                <a:latin typeface="Microsoft YaHei"/>
              </a:defRPr>
            </a:pPr>
            <a:r>
              <a:t>城市列表变更 → setCities() → refreshAll() → 逐个调 API → Handler 解析 → QVariantMap → emit dataChanged() → QML 绑定刷新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99AA"/>
                </a:solidFill>
                <a:latin typeface="Microsoft YaHei"/>
              </a:defRPr>
            </a:pPr>
            <a: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动态天气背景系统 (V3)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9AA"/>
                </a:solidFill>
                <a:latin typeface="Microsoft YaHei"/>
              </a:defRPr>
            </a:pPr>
            <a:r>
              <a:t>天空模拟 · GPU ShaderEffect · Layer 栈架构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484632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1C784"/>
                </a:solidFill>
                <a:latin typeface="Microsoft YaHei"/>
              </a:defRPr>
            </a:pPr>
            <a:r>
              <a:t>Layer 层级 (z-order)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CAF50"/>
                </a:solidFill>
                <a:latin typeface="Microsoft YaHei"/>
              </a:defRPr>
            </a:pPr>
            <a:r>
              <a:t>z=0   SkyLayer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920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Microsoft YaHei"/>
              </a:defRPr>
            </a:pPr>
            <a:r>
              <a:t>天空渐变 + 太阳光晕 + 月亮 SDF + 星空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20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CAF50"/>
                </a:solidFill>
                <a:latin typeface="Microsoft YaHei"/>
              </a:defRPr>
            </a:pPr>
            <a:r>
              <a:t>始终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317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CAF50"/>
                </a:solidFill>
                <a:latin typeface="Microsoft YaHei"/>
              </a:defRPr>
            </a:pPr>
            <a:r>
              <a:t>z=10  AtmosphereLayer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3317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Microsoft YaHei"/>
              </a:defRPr>
            </a:pPr>
            <a:r>
              <a:t>twilight 色调 + 散射 + 曝光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3317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CAF50"/>
                </a:solidFill>
                <a:latin typeface="Microsoft YaHei"/>
              </a:defRPr>
            </a:pPr>
            <a:r>
              <a:t>始终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743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899AA"/>
                </a:solidFill>
                <a:latin typeface="Microsoft YaHei"/>
              </a:defRPr>
            </a:pPr>
            <a:r>
              <a:t>z=20  CloudLayer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743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Microsoft YaHei"/>
              </a:defRPr>
            </a:pPr>
            <a:r>
              <a:t>2~3 层 fBM 云噪声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74320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CAF50"/>
                </a:solidFill>
                <a:latin typeface="Microsoft YaHei"/>
              </a:defRPr>
            </a:pPr>
            <a:r>
              <a:t>条件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154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899AA"/>
                </a:solidFill>
                <a:latin typeface="Microsoft YaHei"/>
              </a:defRPr>
            </a:pPr>
            <a:r>
              <a:t>z=30  WeatherLayer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54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Microsoft YaHei"/>
              </a:defRPr>
            </a:pPr>
            <a:r>
              <a:t>雨丝/雪花粒子 ≤60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315468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CAF50"/>
                </a:solidFill>
                <a:latin typeface="Microsoft YaHei"/>
              </a:defRPr>
            </a:pPr>
            <a:r>
              <a:t>条件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66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899AA"/>
                </a:solidFill>
                <a:latin typeface="Microsoft YaHei"/>
              </a:defRPr>
            </a:pPr>
            <a:r>
              <a:t>z=40  FogLayer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566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Microsoft YaHei"/>
              </a:defRPr>
            </a:pPr>
            <a:r>
              <a:t>雾/霾/沙尘色调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56616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CAF50"/>
                </a:solidFill>
                <a:latin typeface="Microsoft YaHei"/>
              </a:defRPr>
            </a:pPr>
            <a:r>
              <a:t>条件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977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899AA"/>
                </a:solidFill>
                <a:latin typeface="Microsoft YaHei"/>
              </a:defRPr>
            </a:pPr>
            <a:r>
              <a:t>z=50  LightningLayer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3977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Microsoft YaHei"/>
              </a:defRPr>
            </a:pPr>
            <a:r>
              <a:t>间歇全屏闪电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9776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CAF50"/>
                </a:solidFill>
                <a:latin typeface="Microsoft YaHei"/>
              </a:defRPr>
            </a:pPr>
            <a:r>
              <a:t>条件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572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196F3"/>
                </a:solidFill>
                <a:latin typeface="Microsoft YaHei"/>
              </a:defRPr>
            </a:pPr>
            <a:r>
              <a:t>DebugPanel: Ctrl+Shift+B 浮动面板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1371600"/>
            <a:ext cx="5212080" cy="219456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463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1C784"/>
                </a:solidFill>
                <a:latin typeface="Microsoft YaHei"/>
              </a:defRPr>
            </a:pPr>
            <a:r>
              <a:t>三层过渡模型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92024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CCDDEE"/>
                </a:solidFill>
                <a:latin typeface="Microsoft YaHei"/>
              </a:defRPr>
            </a:pPr>
            <a:r>
              <a:t>▸  层0 (NO-OP): 完全相同 → 无操作</a:t>
            </a:r>
          </a:p>
          <a:p>
            <a:pPr>
              <a:spcAft>
                <a:spcPts val="400"/>
              </a:spcAft>
              <a:defRPr sz="1200">
                <a:solidFill>
                  <a:srgbClr val="CCDDEE"/>
                </a:solidFill>
                <a:latin typeface="Microsoft YaHei"/>
              </a:defRPr>
            </a:pPr>
            <a:r>
              <a:t>▸  层1 (参数平滑): 同类型 intensity/variant → 400ms</a:t>
            </a:r>
          </a:p>
          <a:p>
            <a:pPr>
              <a:spcAft>
                <a:spcPts val="400"/>
              </a:spcAft>
              <a:defRPr sz="1200">
                <a:solidFill>
                  <a:srgbClr val="CCDDEE"/>
                </a:solidFill>
                <a:latin typeface="Microsoft YaHei"/>
              </a:defRPr>
            </a:pPr>
            <a:r>
              <a:t>▸  层2 (过程式): 跨类型 → 双层 Loader + 800ms</a:t>
            </a:r>
          </a:p>
          <a:p>
            <a:pPr>
              <a:spcAft>
                <a:spcPts val="400"/>
              </a:spcAft>
              <a:defRPr sz="1200">
                <a:solidFill>
                  <a:srgbClr val="CCDDEE"/>
                </a:solidFill>
                <a:latin typeface="Microsoft YaHei"/>
              </a:defRPr>
            </a:pPr>
            <a:r>
              <a:t>▸  防抖: abortCurrentTransition() → 恢复 → 重发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840480"/>
            <a:ext cx="5212080" cy="237744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9319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1C784"/>
                </a:solidFill>
                <a:latin typeface="Microsoft YaHei"/>
              </a:defRPr>
            </a:pPr>
            <a:r>
              <a:t>68 天气码 → 6 种类型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2976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CCDDEE"/>
                </a:solidFill>
                <a:latin typeface="Microsoft YaHei"/>
              </a:defRPr>
            </a:pPr>
            <a:r>
              <a:t>▸  100 (晴) → sunny    101~104 → cloudy</a:t>
            </a:r>
          </a:p>
          <a:p>
            <a:pPr>
              <a:spcAft>
                <a:spcPts val="400"/>
              </a:spcAft>
              <a:defRPr sz="1200">
                <a:solidFill>
                  <a:srgbClr val="CCDDEE"/>
                </a:solidFill>
                <a:latin typeface="Microsoft YaHei"/>
              </a:defRPr>
            </a:pPr>
            <a:r>
              <a:t>▸  150~153 → night     300~399 (22) → rain</a:t>
            </a:r>
          </a:p>
          <a:p>
            <a:pPr>
              <a:spcAft>
                <a:spcPts val="400"/>
              </a:spcAft>
              <a:defRPr sz="1200">
                <a:solidFill>
                  <a:srgbClr val="CCDDEE"/>
                </a:solidFill>
                <a:latin typeface="Microsoft YaHei"/>
              </a:defRPr>
            </a:pPr>
            <a:r>
              <a:t>▸  400~499 (15) → snow  500~515 (14) → fog</a:t>
            </a:r>
          </a:p>
          <a:p>
            <a:pPr>
              <a:spcAft>
                <a:spcPts val="400"/>
              </a:spcAft>
              <a:defRPr sz="1200">
                <a:solidFill>
                  <a:srgbClr val="CCDDEE"/>
                </a:solidFill>
                <a:latin typeface="Microsoft YaHei"/>
              </a:defRPr>
            </a:pPr>
            <a:r>
              <a:t>▸  每个码映射 (type, intensity, variant) 三元组</a:t>
            </a:r>
          </a:p>
          <a:p>
            <a:pPr>
              <a:spcAft>
                <a:spcPts val="400"/>
              </a:spcAft>
              <a:defRPr sz="1200">
                <a:solidFill>
                  <a:srgbClr val="CCDDEE"/>
                </a:solidFill>
                <a:latin typeface="Microsoft YaHei"/>
              </a:defRPr>
            </a:pPr>
            <a:r>
              <a:t>▸  intensity 0.0~1.0, variant 0~3 (闪电/冰雹/霾等)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99AA"/>
                </a:solidFill>
                <a:latin typeface="Microsoft YaHei"/>
              </a:defRPr>
            </a:pPr>
            <a: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V3 天空系统 — C++ 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9AA"/>
                </a:solidFill>
                <a:latin typeface="Microsoft YaHei"/>
              </a:defRPr>
            </a:pPr>
            <a:r>
              <a:t>6 个核心后端模块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47120" cy="73152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351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CAF50"/>
                </a:solidFill>
                <a:latin typeface="Microsoft YaHei"/>
              </a:defRPr>
            </a:pPr>
            <a:r>
              <a:t>GlobalClock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14351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全局 16ms 时钟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Microsoft YaHei"/>
              </a:defRPr>
            </a:pPr>
            <a:r>
              <a:t>Q_PROPERTY(double elapsed)，非活跃暂停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580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CAF50"/>
                </a:solidFill>
                <a:latin typeface="Microsoft YaHei"/>
              </a:defRPr>
            </a:pPr>
            <a:r>
              <a:t>SkyState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2580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26 字段统一状态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Microsoft YaHei"/>
              </a:defRPr>
            </a:pPr>
            <a:r>
              <a:t>Q_GADGET + Q_PROPERTY，跨层共享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17520"/>
            <a:ext cx="11247120" cy="73152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0810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CAF50"/>
                </a:solidFill>
                <a:latin typeface="Microsoft YaHei"/>
              </a:defRPr>
            </a:pPr>
            <a:r>
              <a:t>WeatherProfile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30810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68 码 O(1) 查表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832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Microsoft YaHei"/>
              </a:defRPr>
            </a:pPr>
            <a:r>
              <a:t>天气码 → {cloudCoverage, rainIntensity, ...}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80"/>
            <a:ext cx="11247120" cy="73152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9039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CAF50"/>
                </a:solidFill>
                <a:latin typeface="Microsoft YaHei"/>
              </a:defRPr>
            </a:pPr>
            <a:r>
              <a:t>AstronomyModel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39039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天文计算引擎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062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Microsoft YaHei"/>
              </a:defRPr>
            </a:pPr>
            <a:r>
              <a:t>太阳/月亮位置 + 7 时段天空色插值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663440"/>
            <a:ext cx="11247120" cy="73152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7269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CAF50"/>
                </a:solidFill>
                <a:latin typeface="Microsoft YaHei"/>
              </a:defRPr>
            </a:pPr>
            <a:r>
              <a:t>BackgroundManager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47269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模式 + 状态维护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02920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Microsoft YaHei"/>
              </a:defRPr>
            </a:pPr>
            <a:r>
              <a:t>Auto/Debug 模式，天气预报/天文数据接入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486400"/>
            <a:ext cx="11247120" cy="73152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5499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CAF50"/>
                </a:solidFill>
                <a:latin typeface="Microsoft YaHei"/>
              </a:defRPr>
            </a:pPr>
            <a:r>
              <a:t>TransitionController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55499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过渡状态机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521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Microsoft YaHei"/>
              </a:defRPr>
            </a:pPr>
            <a:r>
              <a:t>Loader 激活时序 + m_transitionId 防抖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99AA"/>
                </a:solidFill>
                <a:latin typeface="Microsoft YaHei"/>
              </a:defRPr>
            </a:pPr>
            <a: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天气数据引擎 WeatherAPI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9AA"/>
                </a:solidFill>
                <a:latin typeface="Microsoft YaHei"/>
              </a:defRPr>
            </a:pPr>
            <a:r>
              <a:t>24 API · 统一路由 · 缓存拦截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256032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1C784"/>
                </a:solidFill>
                <a:latin typeface="Microsoft YaHei"/>
              </a:defRPr>
            </a:pPr>
            <a:r>
              <a:t>24 个 API 端点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CCDDEE"/>
                </a:solidFill>
                <a:latin typeface="Microsoft YaHei"/>
              </a:defRPr>
            </a:pPr>
            <a:r>
              <a:t>▸  GeoAPI: cityLookup / cityTop / POI 搜索</a:t>
            </a:r>
          </a:p>
          <a:p>
            <a:pPr>
              <a:spcAft>
                <a:spcPts val="300"/>
              </a:spcAft>
              <a:defRPr sz="1200">
                <a:solidFill>
                  <a:srgbClr val="CCDDEE"/>
                </a:solidFill>
                <a:latin typeface="Microsoft YaHei"/>
              </a:defRPr>
            </a:pPr>
            <a:r>
              <a:t>▸  天气: now / daily(3-30d) / hourly(24-168h)</a:t>
            </a:r>
          </a:p>
          <a:p>
            <a:pPr>
              <a:spcAft>
                <a:spcPts val="300"/>
              </a:spcAft>
              <a:defRPr sz="1200">
                <a:solidFill>
                  <a:srgbClr val="CCDDEE"/>
                </a:solidFill>
                <a:latin typeface="Microsoft YaHei"/>
              </a:defRPr>
            </a:pPr>
            <a:r>
              <a:t>▸  格点: grid-now / grid-daily / grid-hourly</a:t>
            </a:r>
          </a:p>
          <a:p>
            <a:pPr>
              <a:spcAft>
                <a:spcPts val="300"/>
              </a:spcAft>
              <a:defRPr sz="1200">
                <a:solidFill>
                  <a:srgbClr val="CCDDEE"/>
                </a:solidFill>
                <a:latin typeface="Microsoft YaHei"/>
              </a:defRPr>
            </a:pPr>
            <a:r>
              <a:t>▸  空气质量: current / hourly / daily / stations</a:t>
            </a:r>
          </a:p>
          <a:p>
            <a:pPr>
              <a:spcAft>
                <a:spcPts val="300"/>
              </a:spcAft>
              <a:defRPr sz="1200">
                <a:solidFill>
                  <a:srgbClr val="CCDDEE"/>
                </a:solidFill>
                <a:latin typeface="Microsoft YaHei"/>
              </a:defRPr>
            </a:pPr>
            <a:r>
              <a:t>▸  天文: sun / moon / solar-elevation-angle</a:t>
            </a:r>
          </a:p>
          <a:p>
            <a:pPr>
              <a:spcAft>
                <a:spcPts val="300"/>
              </a:spcAft>
              <a:defRPr sz="1200">
                <a:solidFill>
                  <a:srgbClr val="CCDDEE"/>
                </a:solidFill>
                <a:latin typeface="Microsoft YaHei"/>
              </a:defRPr>
            </a:pPr>
            <a:r>
              <a:t>▸  太阳辐射: forecast (GHI/DNI/DHI)</a:t>
            </a:r>
          </a:p>
          <a:p>
            <a:pPr>
              <a:spcAft>
                <a:spcPts val="300"/>
              </a:spcAft>
              <a:defRPr sz="1200">
                <a:solidFill>
                  <a:srgbClr val="CCDDEE"/>
                </a:solidFill>
                <a:latin typeface="Microsoft YaHei"/>
              </a:defRPr>
            </a:pPr>
            <a:r>
              <a:t>▸  其他: indices / warning / minutely / tropical / tide / historical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256032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1C784"/>
                </a:solidFill>
                <a:latin typeface="Microsoft YaHei"/>
              </a:defRPr>
            </a:pPr>
            <a:r>
              <a:t>三层架构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CCDDEE"/>
                </a:solidFill>
                <a:latin typeface="Microsoft YaHei"/>
              </a:defRPr>
            </a:pPr>
            <a:r>
              <a:t>▸  ① 请求层: 各 Q_INVOKABLE 组装 URL → sendRequest()</a:t>
            </a:r>
          </a:p>
          <a:p>
            <a:pPr>
              <a:spcAft>
                <a:spcPts val="300"/>
              </a:spcAft>
              <a:defRPr sz="1200">
                <a:solidFill>
                  <a:srgbClr val="CCDDEE"/>
                </a:solidFill>
                <a:latin typeface="Microsoft YaHei"/>
              </a:defRPr>
            </a:pPr>
            <a:r>
              <a:t>▸  ② 路由层: onReplyFinished() 按 _loc 标记分派</a:t>
            </a:r>
          </a:p>
          <a:p>
            <a:pPr>
              <a:spcAft>
                <a:spcPts val="300"/>
              </a:spcAft>
              <a:defRPr sz="1200">
                <a:solidFill>
                  <a:srgbClr val="CCDDEE"/>
                </a:solidFill>
                <a:latin typeface="Microsoft YaHei"/>
              </a:defRPr>
            </a:pPr>
            <a:r>
              <a:t>▸  ③ 处理层: 24 个 handler 解析 JSON → emit 信号</a:t>
            </a:r>
          </a:p>
          <a:p>
            <a:pPr>
              <a:spcAft>
                <a:spcPts val="300"/>
              </a:spcAft>
              <a:defRPr sz="1200">
                <a:solidFill>
                  <a:srgbClr val="CCDDEE"/>
                </a:solidFill>
                <a:latin typeface="Microsoft YaHei"/>
              </a:defRPr>
            </a:pPr>
            <a:r>
              <a:t>▸  </a:t>
            </a:r>
          </a:p>
          <a:p>
            <a:pPr>
              <a:spcAft>
                <a:spcPts val="300"/>
              </a:spcAft>
              <a:defRPr sz="1200">
                <a:solidFill>
                  <a:srgbClr val="CCDDEE"/>
                </a:solidFill>
                <a:latin typeface="Microsoft YaHei"/>
              </a:defRPr>
            </a:pPr>
            <a:r>
              <a:t>▸  缓存: sendRequest() 前检查 WeatherCache</a:t>
            </a:r>
          </a:p>
          <a:p>
            <a:pPr>
              <a:spcAft>
                <a:spcPts val="300"/>
              </a:spcAft>
              <a:defRPr sz="1200">
                <a:solidFill>
                  <a:srgbClr val="CCDDEE"/>
                </a:solidFill>
                <a:latin typeface="Microsoft YaHei"/>
              </a:defRPr>
            </a:pPr>
            <a:r>
              <a:t>▸  追踪: URL 注入 _loc 查询参数标记城市</a:t>
            </a:r>
          </a:p>
          <a:p>
            <a:pPr>
              <a:spcAft>
                <a:spcPts val="300"/>
              </a:spcAft>
              <a:defRPr sz="1200">
                <a:solidFill>
                  <a:srgbClr val="CCDDEE"/>
                </a:solidFill>
                <a:latin typeface="Microsoft YaHei"/>
              </a:defRPr>
            </a:pPr>
            <a:r>
              <a:t>▸  认证: API Key (?key=xxxx)，待迁 JWT Bearer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114800"/>
            <a:ext cx="11247120" cy="731520"/>
          </a:xfrm>
          <a:prstGeom prst="roundRect">
            <a:avLst/>
          </a:prstGeom>
          <a:solidFill>
            <a:srgbClr val="1A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1C784"/>
                </a:solidFill>
                <a:latin typeface="Microsoft YaHei"/>
              </a:defRPr>
            </a:pPr>
            <a:r>
              <a:t>信号签名统一: (QString cityId, QJsonObject data) / (QString cityId, QJsonArray data)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029200"/>
            <a:ext cx="11247120" cy="137160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1206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1C784"/>
                </a:solidFill>
                <a:latin typeface="Microsoft YaHei"/>
              </a:defRPr>
            </a:pPr>
            <a:r>
              <a:t>缓存策略 (TTL)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406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CCDDEE"/>
                </a:solidFill>
                <a:latin typeface="Microsoft YaHei"/>
              </a:defRPr>
            </a:pPr>
            <a:r>
              <a:t>▸  实时天气 10min | 逐日预报 30min | 逐时预报 20min</a:t>
            </a:r>
          </a:p>
          <a:p>
            <a:pPr>
              <a:spcAft>
                <a:spcPts val="300"/>
              </a:spcAft>
              <a:defRPr sz="1200">
                <a:solidFill>
                  <a:srgbClr val="CCDDEE"/>
                </a:solidFill>
                <a:latin typeface="Microsoft YaHei"/>
              </a:defRPr>
            </a:pPr>
            <a:r>
              <a:t>▸  空气质量 20min | 太阳辐射 30min | 天文 60min</a:t>
            </a:r>
          </a:p>
          <a:p>
            <a:pPr>
              <a:spcAft>
                <a:spcPts val="300"/>
              </a:spcAft>
              <a:defRPr sz="1200">
                <a:solidFill>
                  <a:srgbClr val="CCDDEE"/>
                </a:solidFill>
                <a:latin typeface="Microsoft YaHei"/>
              </a:defRPr>
            </a:pPr>
            <a:r>
              <a:t>▸  城市搜索 24h | 热门城市 7天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99AA"/>
                </a:solidFill>
                <a:latin typeface="Microsoft YaHei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模块详解 (1/3)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94960" cy="475488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CAF50"/>
                </a:solidFill>
                <a:latin typeface="Microsoft YaHei"/>
              </a:defRPr>
            </a:pPr>
            <a:r>
              <a:t>F1  城市天气查询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SearchBar 300ms 防抖 + Popup 联想</a:t>
            </a:r>
          </a:p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cityLookup → GeoAPI 解析 location[]</a:t>
            </a:r>
          </a:p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首次启动→热门城市填充仪表盘</a:t>
            </a:r>
          </a:p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焦点城市切换→实时天气 + Store 同步</a:t>
            </a:r>
          </a:p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数据流: searchCity → addFocus → weatherNow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CAF50"/>
                </a:solidFill>
                <a:latin typeface="Microsoft YaHei"/>
              </a:defRPr>
            </a:pPr>
            <a:r>
              <a:t>F2  七天天气预报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预报范围: 24h/72h/168h · 3d/7d/10d/15d/30d</a:t>
            </a:r>
          </a:p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C++ ForecastStore 预处理→坐标数组</a:t>
            </a:r>
          </a:p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ChartView 预声明 SplineSeries + LineSeries×2</a:t>
            </a:r>
          </a:p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X轴 ValueAxis 序号索引, Y轴自适应</a:t>
            </a:r>
          </a:p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切换范围→setRange()→refreshAll()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99AA"/>
                </a:solidFill>
                <a:latin typeface="Microsoft YaHei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模块详解 (2/3)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94960" cy="475488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CAF50"/>
                </a:solidFill>
                <a:latin typeface="Microsoft YaHei"/>
              </a:defRPr>
            </a:pPr>
            <a:r>
              <a:t>F3  空气质量指数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2×2 Grid, 绑定 airQualityStore</a:t>
            </a:r>
          </a:p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解析 indexes[us-epa].aqi/level/color</a:t>
            </a:r>
          </a:p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污染物网格: PM2.5/PM10/NO₂/O₃/CO</a:t>
            </a:r>
          </a:p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健康建议展示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CAF50"/>
                </a:solidFill>
                <a:latin typeface="Microsoft YaHei"/>
              </a:defRPr>
            </a:pPr>
            <a:r>
              <a:t>F4  阳光天文信息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3 路 API 异步合并 → mergeAndEmit()</a:t>
            </a:r>
          </a:p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GHI 大数字 + DNI/DHI 副行</a:t>
            </a:r>
          </a:p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日出日落 + 月相名称/亮度</a:t>
            </a:r>
          </a:p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太阳辐射可隐藏 (AppSettings)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99AA"/>
                </a:solidFill>
                <a:latin typeface="Microsoft YaHei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模块详解 (3/3)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94960" cy="475488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CAF50"/>
                </a:solidFill>
                <a:latin typeface="Microsoft YaHei"/>
              </a:defRPr>
            </a:pPr>
            <a:r>
              <a:t>F5  城市详情聚合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10 路 API 汇聚 → 9 张卡片滚动</a:t>
            </a:r>
          </a:p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实时/空气/预报/指数/预警/天文/辐射/降水</a:t>
            </a:r>
          </a:p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C++ 预初始化 map/list 防 TypeError</a:t>
            </a:r>
          </a:p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数据按到达顺序依次可见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475488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CAF50"/>
                </a:solidFill>
                <a:latin typeface="Microsoft YaHei"/>
              </a:defRPr>
            </a:pPr>
            <a:r>
              <a:t>F7/F9  收藏 · 历史 · 设置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城市详情页星号→收藏→SQLite 持久化</a:t>
            </a:r>
          </a:p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侧边栏优先级: 固定&gt;收藏&gt;历史</a:t>
            </a:r>
          </a:p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AppSettings: 太阳辐射/性能档位</a:t>
            </a:r>
          </a:p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QSettings 持久化用户偏好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99AA"/>
                </a:solidFill>
                <a:latin typeface="Microsoft YaHe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关键设计决策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9AA"/>
                </a:solidFill>
                <a:latin typeface="Microsoft YaHei"/>
              </a:defRPr>
            </a:pPr>
            <a:r>
              <a:t>从踩坑中沉淀的架构原则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47120" cy="77724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22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A726"/>
                </a:solidFill>
                <a:latin typeface="Microsoft YaHei"/>
              </a:defRPr>
            </a:pPr>
            <a:r>
              <a:t>C++ 预处理 &gt; QML JS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422400"/>
            <a:ext cx="7589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Microsoft YaHei"/>
              </a:defRPr>
            </a:pPr>
            <a:r>
              <a:t>JSON 解析、日期转换、坐标计算全部移到 C++，消除 ReferenceError / 类型错误 / 信号丢失一整类 bug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0280"/>
            <a:ext cx="11247120" cy="77724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910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A726"/>
                </a:solidFill>
                <a:latin typeface="Microsoft YaHei"/>
              </a:defRPr>
            </a:pPr>
            <a:r>
              <a:t>QtCharts 必须 QApplication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291080"/>
            <a:ext cx="7589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Microsoft YaHei"/>
              </a:defRPr>
            </a:pPr>
            <a:r>
              <a:t>QtCharts 内部依赖 QGraphicsTextItem → QWidgetTextControl，QGuiApplication 会 SIGSEGV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108960"/>
            <a:ext cx="11247120" cy="77724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1597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A726"/>
                </a:solidFill>
                <a:latin typeface="Microsoft YaHei"/>
              </a:defRPr>
            </a:pPr>
            <a:r>
              <a:t>预声明 series &gt; createSeries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159760"/>
            <a:ext cx="7589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Microsoft YaHei"/>
              </a:defRPr>
            </a:pPr>
            <a:r>
              <a:t>ChartView + 预声明 children 比动态 createSeries() 稳定，避免轴进入无效状态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77640"/>
            <a:ext cx="11247120" cy="77724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28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A726"/>
                </a:solidFill>
                <a:latin typeface="Microsoft YaHei"/>
              </a:defRPr>
            </a:pPr>
            <a:r>
              <a:t>QML property var 绑定 ≠ JS 深比较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28440"/>
            <a:ext cx="7589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Microsoft YaHei"/>
              </a:defRPr>
            </a:pPr>
            <a:r>
              <a:t>JS 对象原地修改不触发 Changed — C++ 端每次创建新 QVariantMap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846320"/>
            <a:ext cx="11247120" cy="77724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8971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A726"/>
                </a:solidFill>
                <a:latin typeface="Microsoft YaHei"/>
              </a:defRPr>
            </a:pPr>
            <a:r>
              <a:t>undefined &amp;&amp; x 返回 undefined 非 false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4897120"/>
            <a:ext cx="7589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Microsoft YaHei"/>
              </a:defRPr>
            </a:pPr>
            <a:r>
              <a:t>QML 中所有 visible guard 必须用 !! 强制布尔化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715000"/>
            <a:ext cx="11247120" cy="77724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765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A726"/>
                </a:solidFill>
                <a:latin typeface="Microsoft YaHei"/>
              </a:defRPr>
            </a:pPr>
            <a:r>
              <a:t>_loc 优先于 location 提取路由键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5765800"/>
            <a:ext cx="7589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Microsoft YaHei"/>
              </a:defRPr>
            </a:pPr>
            <a:r>
              <a:t>当 API 同时具有 location (业务) 和 _loc (追踪) 时，追踪参数优先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99AA"/>
                </a:solidFill>
                <a:latin typeface="Microsoft YaHe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项目里程碑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9AA"/>
                </a:solidFill>
                <a:latin typeface="Microsoft YaHei"/>
              </a:defRPr>
            </a:pPr>
            <a:r>
              <a:t>基于 git 日志梳理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47800"/>
            <a:ext cx="914400" cy="3657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47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v0.1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447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99AA"/>
                </a:solidFill>
                <a:latin typeface="Microsoft YaHei"/>
              </a:defRPr>
            </a:pPr>
            <a:r>
              <a:t>2026-07-09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4478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Microsoft YaHei"/>
              </a:defRPr>
            </a:pPr>
            <a:r>
              <a:t>24 个和风天气 API 封装 + 统一路由/信号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40"/>
            <a:ext cx="11247120" cy="68580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225040"/>
            <a:ext cx="914400" cy="3657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250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v0.2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2250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99AA"/>
                </a:solidFill>
                <a:latin typeface="Microsoft YaHei"/>
              </a:defRPr>
            </a:pPr>
            <a:r>
              <a:t>2026-07-10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22504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Microsoft YaHei"/>
              </a:defRPr>
            </a:pPr>
            <a:r>
              <a:t>SQLite 缓存层 + 前端仪表盘基础组件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926080"/>
            <a:ext cx="11247120" cy="68580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02280"/>
            <a:ext cx="914400" cy="3657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022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v0.5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3002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99AA"/>
                </a:solidFill>
                <a:latin typeface="Microsoft YaHei"/>
              </a:defRPr>
            </a:pPr>
            <a:r>
              <a:t>2026-07-13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0022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Microsoft YaHei"/>
              </a:defRPr>
            </a:pPr>
            <a:r>
              <a:t>C++ Store 架构重构 + 4 大页面 + 城市详情 + 收藏 + 设置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703320"/>
            <a:ext cx="11247120" cy="68580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779520"/>
            <a:ext cx="914400" cy="3657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779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v0.8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377952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99AA"/>
                </a:solidFill>
                <a:latin typeface="Microsoft YaHei"/>
              </a:defRPr>
            </a:pPr>
            <a:r>
              <a:t>2026-07-14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77952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Microsoft YaHei"/>
              </a:defRPr>
            </a:pPr>
            <a:r>
              <a:t>V3 天空模拟系统: Layer 栈 + 68 码映射 + 三层过渡 + DebugPanel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480560"/>
            <a:ext cx="11247120" cy="68580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4556760"/>
            <a:ext cx="914400" cy="3657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5567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v0.9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45567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99AA"/>
                </a:solidFill>
                <a:latin typeface="Microsoft YaHei"/>
              </a:defRPr>
            </a:pPr>
            <a:r>
              <a:t>2026-07-15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455676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Microsoft YaHei"/>
              </a:defRPr>
            </a:pPr>
            <a:r>
              <a:t>Shader 调优: 云体 volumetric + 雨网格重构 + 曝光修复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257800"/>
            <a:ext cx="11247120" cy="68580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334000"/>
            <a:ext cx="914400" cy="3657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3340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v1.0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53340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99AA"/>
                </a:solidFill>
                <a:latin typeface="Microsoft YaHei"/>
              </a:defRPr>
            </a:pPr>
            <a:r>
              <a:t>2026-07-16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53340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Microsoft YaHei"/>
              </a:defRPr>
            </a:pPr>
            <a:r>
              <a:t>需求规格说明书定稿，全部功能验收完成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99AA"/>
                </a:solidFill>
                <a:latin typeface="Microsoft YaHei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UI 设计亮点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9AA"/>
                </a:solidFill>
                <a:latin typeface="Microsoft YaHei"/>
              </a:defRPr>
            </a:pPr>
            <a:r>
              <a:t>Fluent Glassmorphism · 响应式 · 过渡动画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566160" cy="475488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CAF50"/>
                </a:solidFill>
                <a:latin typeface="Microsoft YaHei"/>
              </a:defRPr>
            </a:pPr>
            <a:r>
              <a:t>Glassmorphism 风格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半透明 ARGB 卡片 (#20ffffff)、弱边框 (#30ffffff)</a:t>
            </a:r>
          </a:p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透出动态天气背景 Layer 0</a:t>
            </a:r>
          </a:p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白色文字系，全天气类型可读</a:t>
            </a:r>
          </a:p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强调色 #4caf50（唯一跨背景高对比色）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566160" cy="475488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CAF50"/>
                </a:solidFill>
                <a:latin typeface="Microsoft YaHei"/>
              </a:defRPr>
            </a:pPr>
            <a:r>
              <a:t>响应式布局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92024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卡片圆角: 搜索框 20px · 卡片 12px · 标签 8px</a:t>
            </a:r>
          </a:p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字号响应式: Math.max(min, Math.min(max, dim*ratio))</a:t>
            </a:r>
          </a:p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2×2 Grid 自适应布局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1371600"/>
            <a:ext cx="3566160" cy="475488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CAF50"/>
                </a:solidFill>
                <a:latin typeface="Microsoft YaHei"/>
              </a:defRPr>
            </a:pPr>
            <a:r>
              <a:t>动画与过渡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192024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Hover 变色: 200ms ColorAnimation</a:t>
            </a:r>
          </a:p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侧边栏展开: 80↔200px, 200ms OutCubic</a:t>
            </a:r>
          </a:p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背景切换: 800ms 过程式过渡 (云飘入/雨渐密)</a:t>
            </a:r>
          </a:p>
          <a:p>
            <a:pPr>
              <a:spcAft>
                <a:spcPts val="6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Popup 进出: 150ms in / 100ms 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99AA"/>
                </a:solidFill>
                <a:latin typeface="Microsoft YaHei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项目文件结构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502920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CCDDEE"/>
                </a:solidFill>
                <a:latin typeface="Microsoft YaHei"/>
              </a:defRPr>
            </a:pPr>
            <a:r>
              <a:t>▸  qml1/</a:t>
            </a:r>
          </a:p>
          <a:p>
            <a:pPr>
              <a:spcAft>
                <a:spcPts val="200"/>
              </a:spcAft>
              <a:defRPr sz="1100">
                <a:solidFill>
                  <a:srgbClr val="CCDDEE"/>
                </a:solidFill>
                <a:latin typeface="Microsoft YaHei"/>
              </a:defRPr>
            </a:pPr>
            <a:r>
              <a:t>▸  ├── CMakeLists.txt          Qt6 Quick + Network + Sql + Charts + Widgets</a:t>
            </a:r>
          </a:p>
          <a:p>
            <a:pPr>
              <a:spcAft>
                <a:spcPts val="200"/>
              </a:spcAft>
              <a:defRPr sz="1100">
                <a:solidFill>
                  <a:srgbClr val="CCDDEE"/>
                </a:solidFill>
                <a:latin typeface="Microsoft YaHei"/>
              </a:defRPr>
            </a:pPr>
            <a:r>
              <a:t>▸  ├── main.cpp                QApplication + 10 context properties</a:t>
            </a:r>
          </a:p>
          <a:p>
            <a:pPr>
              <a:spcAft>
                <a:spcPts val="200"/>
              </a:spcAft>
              <a:defRPr sz="1100">
                <a:solidFill>
                  <a:srgbClr val="CCDDEE"/>
                </a:solidFill>
                <a:latin typeface="Microsoft YaHei"/>
              </a:defRPr>
            </a:pPr>
            <a:r>
              <a:t>▸  │</a:t>
            </a:r>
          </a:p>
          <a:p>
            <a:pPr>
              <a:spcAft>
                <a:spcPts val="200"/>
              </a:spcAft>
              <a:defRPr sz="1100">
                <a:solidFill>
                  <a:srgbClr val="CCDDEE"/>
                </a:solidFill>
                <a:latin typeface="Microsoft YaHei"/>
              </a:defRPr>
            </a:pPr>
            <a:r>
              <a:t>▸  ├── C++ 后端 (11 文件)</a:t>
            </a:r>
          </a:p>
          <a:p>
            <a:pPr>
              <a:spcAft>
                <a:spcPts val="200"/>
              </a:spcAft>
              <a:defRPr sz="1100">
                <a:solidFill>
                  <a:srgbClr val="CCDDEE"/>
                </a:solidFill>
                <a:latin typeface="Microsoft YaHei"/>
              </a:defRPr>
            </a:pPr>
            <a:r>
              <a:t>▸  │   ├── weatherApi.h/.cpp         24 API + 统一路由 + _loc 追踪</a:t>
            </a:r>
          </a:p>
          <a:p>
            <a:pPr>
              <a:spcAft>
                <a:spcPts val="200"/>
              </a:spcAft>
              <a:defRPr sz="1100">
                <a:solidFill>
                  <a:srgbClr val="CCDDEE"/>
                </a:solidFill>
                <a:latin typeface="Microsoft YaHei"/>
              </a:defRPr>
            </a:pPr>
            <a:r>
              <a:t>▸  │   ├── WeatherCache.h/.cpp       SQLite 缓存 + TTL 过期</a:t>
            </a:r>
          </a:p>
          <a:p>
            <a:pPr>
              <a:spcAft>
                <a:spcPts val="200"/>
              </a:spcAft>
              <a:defRPr sz="1100">
                <a:solidFill>
                  <a:srgbClr val="CCDDEE"/>
                </a:solidFill>
                <a:latin typeface="Microsoft YaHei"/>
              </a:defRPr>
            </a:pPr>
            <a:r>
              <a:t>▸  │   ├── ForecastStore.h/.cpp      天气预报数据层</a:t>
            </a:r>
          </a:p>
          <a:p>
            <a:pPr>
              <a:spcAft>
                <a:spcPts val="200"/>
              </a:spcAft>
              <a:defRPr sz="1100">
                <a:solidFill>
                  <a:srgbClr val="CCDDEE"/>
                </a:solidFill>
                <a:latin typeface="Microsoft YaHei"/>
              </a:defRPr>
            </a:pPr>
            <a:r>
              <a:t>▸  │   ├── AirQualityStore.h/.cpp    空气质量数据层</a:t>
            </a:r>
          </a:p>
          <a:p>
            <a:pPr>
              <a:spcAft>
                <a:spcPts val="200"/>
              </a:spcAft>
              <a:defRPr sz="1100">
                <a:solidFill>
                  <a:srgbClr val="CCDDEE"/>
                </a:solidFill>
                <a:latin typeface="Microsoft YaHei"/>
              </a:defRPr>
            </a:pPr>
            <a:r>
              <a:t>▸  │   ├── SolarAstronomyStore.*     阳光天文 (3路异步合并)</a:t>
            </a:r>
          </a:p>
          <a:p>
            <a:pPr>
              <a:spcAft>
                <a:spcPts val="200"/>
              </a:spcAft>
              <a:defRPr sz="1100">
                <a:solidFill>
                  <a:srgbClr val="CCDDEE"/>
                </a:solidFill>
                <a:latin typeface="Microsoft YaHei"/>
              </a:defRPr>
            </a:pPr>
            <a:r>
              <a:t>▸  │   ├── CityDetailStore.*         城市详情 (10路汇聚)</a:t>
            </a:r>
          </a:p>
          <a:p>
            <a:pPr>
              <a:spcAft>
                <a:spcPts val="200"/>
              </a:spcAft>
              <a:defRPr sz="1100">
                <a:solidFill>
                  <a:srgbClr val="CCDDEE"/>
                </a:solidFill>
                <a:latin typeface="Microsoft YaHei"/>
              </a:defRPr>
            </a:pPr>
            <a:r>
              <a:t>▸  │   ├── AppSettings.h/.cpp        QSettings 持久化</a:t>
            </a:r>
          </a:p>
          <a:p>
            <a:pPr>
              <a:spcAft>
                <a:spcPts val="200"/>
              </a:spcAft>
              <a:defRPr sz="1100">
                <a:solidFill>
                  <a:srgbClr val="CCDDEE"/>
                </a:solidFill>
                <a:latin typeface="Microsoft YaHei"/>
              </a:defRPr>
            </a:pPr>
            <a:r>
              <a:t>▸  │   ├── GlobalClock.* / SkyState.h / WeatherProfile.*</a:t>
            </a:r>
          </a:p>
          <a:p>
            <a:pPr>
              <a:spcAft>
                <a:spcPts val="200"/>
              </a:spcAft>
              <a:defRPr sz="1100">
                <a:solidFill>
                  <a:srgbClr val="CCDDEE"/>
                </a:solidFill>
                <a:latin typeface="Microsoft YaHei"/>
              </a:defRPr>
            </a:pPr>
            <a:r>
              <a:t>▸  │   ├── AstronomyModel.* / BackgroundManager.*</a:t>
            </a:r>
          </a:p>
          <a:p>
            <a:pPr>
              <a:spcAft>
                <a:spcPts val="200"/>
              </a:spcAft>
              <a:defRPr sz="1100">
                <a:solidFill>
                  <a:srgbClr val="CCDDEE"/>
                </a:solidFill>
                <a:latin typeface="Microsoft YaHei"/>
              </a:defRPr>
            </a:pPr>
            <a:r>
              <a:t>▸  │   └── TransitionController.*    过渡状态机</a:t>
            </a:r>
          </a:p>
          <a:p>
            <a:pPr>
              <a:spcAft>
                <a:spcPts val="200"/>
              </a:spcAft>
              <a:defRPr sz="1100">
                <a:solidFill>
                  <a:srgbClr val="CCDDEE"/>
                </a:solidFill>
                <a:latin typeface="Microsoft YaHei"/>
              </a:defRPr>
            </a:pPr>
            <a:r>
              <a:t>▸  │</a:t>
            </a:r>
          </a:p>
          <a:p>
            <a:pPr>
              <a:spcAft>
                <a:spcPts val="200"/>
              </a:spcAft>
              <a:defRPr sz="1100">
                <a:solidFill>
                  <a:srgbClr val="CCDDEE"/>
                </a:solidFill>
                <a:latin typeface="Microsoft YaHei"/>
              </a:defRPr>
            </a:pPr>
            <a:r>
              <a:t>▸  ├── QML 前端 (23 文件)</a:t>
            </a:r>
          </a:p>
          <a:p>
            <a:pPr>
              <a:spcAft>
                <a:spcPts val="200"/>
              </a:spcAft>
              <a:defRPr sz="1100">
                <a:solidFill>
                  <a:srgbClr val="CCDDEE"/>
                </a:solidFill>
                <a:latin typeface="Microsoft YaHei"/>
              </a:defRPr>
            </a:pPr>
            <a:r>
              <a:t>▸  │   ├── Main.qml / DashboardPage.qml / NavButton.qml</a:t>
            </a:r>
          </a:p>
          <a:p>
            <a:pPr>
              <a:spcAft>
                <a:spcPts val="200"/>
              </a:spcAft>
              <a:defRPr sz="1100">
                <a:solidFill>
                  <a:srgbClr val="CCDDEE"/>
                </a:solidFill>
                <a:latin typeface="Microsoft YaHei"/>
              </a:defRPr>
            </a:pPr>
            <a:r>
              <a:t>▸  │   ├── SearchBar / CityCard / InfoChip / WeatherIcon</a:t>
            </a:r>
          </a:p>
          <a:p>
            <a:pPr>
              <a:spcAft>
                <a:spcPts val="200"/>
              </a:spcAft>
              <a:defRPr sz="1100">
                <a:solidFill>
                  <a:srgbClr val="CCDDEE"/>
                </a:solidFill>
                <a:latin typeface="Microsoft YaHei"/>
              </a:defRPr>
            </a:pPr>
            <a:r>
              <a:t>▸  │   ├── ForecastPage+Card / AirQualityPage+Card</a:t>
            </a:r>
          </a:p>
          <a:p>
            <a:pPr>
              <a:spcAft>
                <a:spcPts val="200"/>
              </a:spcAft>
              <a:defRPr sz="1100">
                <a:solidFill>
                  <a:srgbClr val="CCDDEE"/>
                </a:solidFill>
                <a:latin typeface="Microsoft YaHei"/>
              </a:defRPr>
            </a:pPr>
            <a:r>
              <a:t>▸  │   ├── SolarAstronomyPage+Card / CityDetailPage</a:t>
            </a:r>
          </a:p>
          <a:p>
            <a:pPr>
              <a:spcAft>
                <a:spcPts val="200"/>
              </a:spcAft>
              <a:defRPr sz="1100">
                <a:solidFill>
                  <a:srgbClr val="CCDDEE"/>
                </a:solidFill>
                <a:latin typeface="Microsoft YaHei"/>
              </a:defRPr>
            </a:pPr>
            <a:r>
              <a:t>▸  │   ├── FavoritesPage / SettingsPage</a:t>
            </a:r>
          </a:p>
          <a:p>
            <a:pPr>
              <a:spcAft>
                <a:spcPts val="200"/>
              </a:spcAft>
              <a:defRPr sz="1100">
                <a:solidFill>
                  <a:srgbClr val="CCDDEE"/>
                </a:solidFill>
                <a:latin typeface="Microsoft YaHei"/>
              </a:defRPr>
            </a:pPr>
            <a:r>
              <a:t>▸  │   └── V3: WeatherBackground + 6 Layers + DebugPanel</a:t>
            </a:r>
          </a:p>
          <a:p>
            <a:pPr>
              <a:spcAft>
                <a:spcPts val="200"/>
              </a:spcAft>
              <a:defRPr sz="1100">
                <a:solidFill>
                  <a:srgbClr val="CCDDEE"/>
                </a:solidFill>
                <a:latin typeface="Microsoft YaHei"/>
              </a:defRPr>
            </a:pPr>
            <a:r>
              <a:t>▸  │</a:t>
            </a:r>
          </a:p>
          <a:p>
            <a:pPr>
              <a:spcAft>
                <a:spcPts val="200"/>
              </a:spcAft>
              <a:defRPr sz="1100">
                <a:solidFill>
                  <a:srgbClr val="CCDDEE"/>
                </a:solidFill>
                <a:latin typeface="Microsoft YaHei"/>
              </a:defRPr>
            </a:pPr>
            <a:r>
              <a:t>▸  ├── shaders/ (7 .frag + common/ GLSL 工具库)</a:t>
            </a:r>
          </a:p>
          <a:p>
            <a:pPr>
              <a:spcAft>
                <a:spcPts val="200"/>
              </a:spcAft>
              <a:defRPr sz="1100">
                <a:solidFill>
                  <a:srgbClr val="CCDDEE"/>
                </a:solidFill>
                <a:latin typeface="Microsoft YaHei"/>
              </a:defRPr>
            </a:pPr>
            <a:r>
              <a:t>▸  ├── icons/ (7 SVG 图标)</a:t>
            </a:r>
          </a:p>
          <a:p>
            <a:pPr>
              <a:spcAft>
                <a:spcPts val="200"/>
              </a:spcAft>
              <a:defRPr sz="1100">
                <a:solidFill>
                  <a:srgbClr val="CCDDEE"/>
                </a:solidFill>
                <a:latin typeface="Microsoft YaHei"/>
              </a:defRPr>
            </a:pPr>
            <a:r>
              <a:t>▸  └── docs/ (需求规格说明书)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99AA"/>
                </a:solidFill>
                <a:latin typeface="Microsoft YaHei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12191695" cy="508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Microsoft YaHei"/>
              </a:defRPr>
            </a:pPr>
            <a:r>
              <a:t>感谢聆听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8899AA"/>
                </a:solidFill>
                <a:latin typeface="Microsoft YaHei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DDEE"/>
                </a:solidFill>
                <a:latin typeface="Microsoft YaHei"/>
              </a:defRPr>
            </a:pPr>
            <a:r>
              <a:t>QWeather — 基于 Qt 6.11 的桌面天气预报应用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0" y="3931920"/>
            <a:ext cx="3931920" cy="1645920"/>
          </a:xfrm>
          <a:prstGeom prst="roundRect">
            <a:avLst/>
          </a:prstGeom>
          <a:solidFill>
            <a:srgbClr val="1123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0" y="40233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CAF50"/>
                </a:solidFill>
                <a:latin typeface="Microsoft YaHei"/>
              </a:defRPr>
            </a:pPr>
            <a:r>
              <a:t>项目信息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448056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项目代号: qml1</a:t>
            </a:r>
          </a:p>
          <a:p>
            <a:pPr>
              <a:spcAft>
                <a:spcPts val="4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框架: Qt 6.11 · C++17 · QML · GLSL</a:t>
            </a:r>
          </a:p>
          <a:p>
            <a:pPr>
              <a:spcAft>
                <a:spcPts val="4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API: 和风天气 (24 端点)</a:t>
            </a:r>
          </a:p>
          <a:p>
            <a:pPr>
              <a:spcAft>
                <a:spcPts val="400"/>
              </a:spcAft>
              <a:defRPr sz="1300">
                <a:solidFill>
                  <a:srgbClr val="CCDDEE"/>
                </a:solidFill>
                <a:latin typeface="Microsoft YaHei"/>
              </a:defRPr>
            </a:pPr>
            <a:r>
              <a:t>▸  架构: C++ Store + QML 纯渲染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